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669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F0A0"/>
                </a:solidFill>
              </a:rPr>
              <a:t>BOUNDKEY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298448"/>
            <a:ext cx="5669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7F7F8"/>
                </a:solidFill>
              </a:rPr>
              <a:t>Give the agent a key.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F7F7F8"/>
                </a:solidFill>
              </a:rPr>
              <a:t>Not your wallet.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40080" y="276148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</a:rPr>
              <a:t>A Solana Mobile authorization layer for AI agents that need metered payments without holding the payer wallet key.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584448"/>
            <a:ext cx="1097280" cy="310896"/>
          </a:xfrm>
          <a:prstGeom prst="roundRect">
            <a:avLst>
              <a:gd name="adj" fmla="val 20588"/>
            </a:avLst>
          </a:prstGeom>
          <a:solidFill>
            <a:srgbClr val="111113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3671316"/>
            <a:ext cx="9509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F0A0"/>
                </a:solidFill>
              </a:rPr>
              <a:t>Solana Mobile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847088" y="3584448"/>
            <a:ext cx="1005840" cy="310896"/>
          </a:xfrm>
          <a:prstGeom prst="roundRect">
            <a:avLst>
              <a:gd name="adj" fmla="val 20588"/>
            </a:avLst>
          </a:prstGeom>
          <a:solidFill>
            <a:srgbClr val="111113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3671316"/>
            <a:ext cx="8595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F0A0"/>
                </a:solidFill>
              </a:rPr>
              <a:t>MPP Session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962656" y="3584448"/>
            <a:ext cx="1234440" cy="310896"/>
          </a:xfrm>
          <a:prstGeom prst="roundRect">
            <a:avLst>
              <a:gd name="adj" fmla="val 20588"/>
            </a:avLst>
          </a:prstGeom>
          <a:solidFill>
            <a:srgbClr val="111113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5808" y="3671316"/>
            <a:ext cx="108813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AF0A0"/>
                </a:solidFill>
              </a:rPr>
              <a:t>Payment Channels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498080" y="685800"/>
            <a:ext cx="2834640" cy="4846320"/>
          </a:xfrm>
          <a:prstGeom prst="roundRect">
            <a:avLst>
              <a:gd name="adj" fmla="val 2581"/>
            </a:avLst>
          </a:prstGeom>
          <a:solidFill>
            <a:srgbClr val="0D0D0F"/>
          </a:solidFill>
          <a:ln w="12700">
            <a:solidFill>
              <a:srgbClr val="3030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99248" y="91440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7F7F8"/>
                </a:solidFill>
              </a:rPr>
              <a:t>BOUNDKEY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9509760" y="91440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A1A1AA"/>
                </a:solidFill>
              </a:rPr>
              <a:t>7Kp…3Lm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7699248" y="1399032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8"/>
                </a:solidFill>
              </a:rPr>
              <a:t>Review permission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726680" y="1920240"/>
            <a:ext cx="237744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18704" y="214884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F0A0"/>
                </a:solidFill>
              </a:rPr>
              <a:t>MPP SESSION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18704" y="256032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Codex → Metered Research API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918704" y="29443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F0A0"/>
                </a:solidFill>
              </a:rPr>
              <a:t>Hard cap  $0.50 USDC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18704" y="3319272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1A1AA"/>
                </a:solidFill>
              </a:rPr>
              <a:t>Session key  CR8ug…gQGq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818120" y="4069080"/>
            <a:ext cx="2194560" cy="411480"/>
          </a:xfrm>
          <a:prstGeom prst="roundRect">
            <a:avLst>
              <a:gd name="adj" fmla="val 13333"/>
            </a:avLst>
          </a:prstGeom>
          <a:solidFill>
            <a:srgbClr val="8AF0A0"/>
          </a:solidFill>
          <a:ln w="12700">
            <a:solidFill>
              <a:srgbClr val="8AF0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36992" y="4215384"/>
            <a:ext cx="19568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7150A"/>
                </a:solidFill>
              </a:rPr>
              <a:t>Authorize up to $0.50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06440" y="2651760"/>
            <a:ext cx="1325880" cy="960120"/>
          </a:xfrm>
          <a:prstGeom prst="roundRect">
            <a:avLst>
              <a:gd name="adj" fmla="val 7619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71032" y="2816352"/>
            <a:ext cx="996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2FF"/>
                </a:solidFill>
              </a:rPr>
              <a:t>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71032" y="3127248"/>
            <a:ext cx="996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Disposable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session key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Agent payments break trust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Autonomy is useful only if money can move safely.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77240" y="2331720"/>
            <a:ext cx="242316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249631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8B95"/>
                </a:solidFill>
              </a:rPr>
              <a:t>Option 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1832" y="2807208"/>
            <a:ext cx="2093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Paste a wallet key into the agent runtime. Too much authority.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566160" y="2331720"/>
            <a:ext cx="242316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249631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Option 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30752" y="2807208"/>
            <a:ext cx="2093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Approve every tiny API payment. Autonomy disappears.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355080" y="2331720"/>
            <a:ext cx="242316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249631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2FF"/>
                </a:solidFill>
              </a:rPr>
              <a:t>Option 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19672" y="2807208"/>
            <a:ext cx="2093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Prefund throwaway wallets. Now wallet lifecycle is the product.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281160" y="224028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2A1214"/>
          </a:solidFill>
          <a:ln w="12700">
            <a:solidFill>
              <a:srgbClr val="5C22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28048" y="27432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7F8"/>
                </a:solidFill>
              </a:rPr>
              <a:t>Prompt injection asks for $5.00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546336" y="3438144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9A4A9"/>
                </a:solidFill>
              </a:rPr>
              <a:t>Without scoping, a small tool call becomes a wallet risk.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INSIGHT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Split financial authority across devices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The phone is the root of authority. The agent only gets a scoped capability.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68680" y="23317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249631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F0A0"/>
                </a:solidFill>
              </a:rPr>
              <a:t>PHONE / SEEKER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2807208"/>
            <a:ext cx="1911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Payer wallet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Mobile Wallet Adapter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Human review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37560" y="3154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F0A0"/>
                </a:solidFill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886200" y="2240280"/>
            <a:ext cx="2423160" cy="2331720"/>
          </a:xfrm>
          <a:prstGeom prst="roundRect">
            <a:avLst>
              <a:gd name="adj" fmla="val 3137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0792" y="2404872"/>
            <a:ext cx="2093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SOLANA CHANNEL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50792" y="2715768"/>
            <a:ext cx="20939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payer = phone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payee = one 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deposit = hard cap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authorized signer = agent key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65392" y="315468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F0A0"/>
                </a:solidFill>
              </a:rPr>
              <a:t>←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086600" y="233172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51192" y="2496312"/>
            <a:ext cx="1911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2FF"/>
                </a:solidFill>
              </a:rPr>
              <a:t>AGENT MACHINE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51192" y="2807208"/>
            <a:ext cx="19110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Ephemeral Ed25519 key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Signs cumulative vouchers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No payer private key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84080" y="2377440"/>
            <a:ext cx="1463040" cy="1691640"/>
          </a:xfrm>
          <a:prstGeom prst="roundRect">
            <a:avLst>
              <a:gd name="adj" fmla="val 5000"/>
            </a:avLst>
          </a:prstGeom>
          <a:solidFill>
            <a:srgbClr val="173820"/>
          </a:solidFill>
          <a:ln w="12700">
            <a:solidFill>
              <a:srgbClr val="316B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40112" y="2798064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F0A0"/>
                </a:solidFill>
              </a:rPr>
              <a:t>Delegation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8AF0A0"/>
                </a:solidFill>
              </a:rPr>
              <a:t>without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8AF0A0"/>
                </a:solidFill>
              </a:rPr>
              <a:t>custody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PRODUCT FLOW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Scan. Review. Authorize. Let the agent work.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A mobile-first approval loop for desktop/cloud agents.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578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F0A0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7F8"/>
                </a:solidFill>
              </a:rPr>
              <a:t>Agent hits paid MPP endpoint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3593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402 session challenge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971800" y="237744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36392" y="2578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F0A0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36392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7F8"/>
                </a:solidFill>
              </a:rPr>
              <a:t>QR goes to phone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36392" y="3593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request contains cap + payee + key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237744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76672" y="2578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F0A0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6672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7F8"/>
                </a:solidFill>
              </a:rPr>
              <a:t>Wallet signs on mobile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76672" y="3593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MWA signs channel open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452360" y="237744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6952" y="2578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F0A0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616952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7F8"/>
                </a:solidFill>
              </a:rPr>
              <a:t>Agent streams work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616952" y="3593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session key signs vouchers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692640" y="237744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2A1214"/>
          </a:solidFill>
          <a:ln w="12700">
            <a:solidFill>
              <a:srgbClr val="5C22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57232" y="25786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8B95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57232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7F7F8"/>
                </a:solidFill>
              </a:rPr>
              <a:t>Attack is bounded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57232" y="359359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D9A4A9"/>
                </a:solidFill>
              </a:rPr>
              <a:t>$5 / wrong payee fails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LIVE ARCHITECTURE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A cross-device MPP SessionOpener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The agent waits while mobile signs the official Payment Channel open.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4389120" cy="3474720"/>
          </a:xfrm>
          <a:prstGeom prst="roundRect">
            <a:avLst>
              <a:gd name="adj" fmla="val 2105"/>
            </a:avLst>
          </a:prstGeom>
          <a:solidFill>
            <a:srgbClr val="0E0E10"/>
          </a:solidFill>
          <a:ln w="12700">
            <a:solidFill>
              <a:srgbClr val="303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84832"/>
            <a:ext cx="4389120" cy="365760"/>
          </a:xfrm>
          <a:prstGeom prst="rect">
            <a:avLst/>
          </a:prstGeom>
          <a:solidFill>
            <a:srgbClr val="121214"/>
          </a:solidFill>
          <a:ln w="12700">
            <a:solidFill>
              <a:srgbClr val="2424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2221992"/>
            <a:ext cx="54864" cy="54864"/>
          </a:xfrm>
          <a:prstGeom prst="ellipse">
            <a:avLst/>
          </a:prstGeom>
          <a:solidFill>
            <a:srgbClr val="343439"/>
          </a:solidFill>
          <a:ln w="12700">
            <a:solidFill>
              <a:srgbClr val="3434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221992"/>
            <a:ext cx="54864" cy="54864"/>
          </a:xfrm>
          <a:prstGeom prst="ellipse">
            <a:avLst/>
          </a:prstGeom>
          <a:solidFill>
            <a:srgbClr val="343439"/>
          </a:solidFill>
          <a:ln w="12700">
            <a:solidFill>
              <a:srgbClr val="3434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61288" y="2221992"/>
            <a:ext cx="54864" cy="54864"/>
          </a:xfrm>
          <a:prstGeom prst="ellipse">
            <a:avLst/>
          </a:prstGeom>
          <a:solidFill>
            <a:srgbClr val="343439"/>
          </a:solidFill>
          <a:ln w="12700">
            <a:solidFill>
              <a:srgbClr val="3434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99032" y="2212848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71717A"/>
                </a:solidFill>
              </a:rPr>
              <a:t>codex · research-agent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978408" y="2724912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7F7F8"/>
                </a:solidFill>
              </a:rPr>
              <a:t>$ codex run research ACME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978408" y="306324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1A1AA"/>
                </a:solidFill>
              </a:rPr>
              <a:t>← 402 · intent=session · voucherSigner=client</a:t>
            </a:r>
            <a:endParaRPr lang="en-US" sz="860" dirty="0"/>
          </a:p>
        </p:txBody>
      </p:sp>
      <p:sp>
        <p:nvSpPr>
          <p:cNvPr id="13" name="Text 11"/>
          <p:cNvSpPr/>
          <p:nvPr/>
        </p:nvSpPr>
        <p:spPr>
          <a:xfrm>
            <a:off x="978408" y="3401568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1A1AA"/>
                </a:solidFill>
              </a:rPr>
              <a:t>QR shown: mobile authorization required</a:t>
            </a:r>
            <a:endParaRPr lang="en-US" sz="860" dirty="0"/>
          </a:p>
        </p:txBody>
      </p:sp>
      <p:sp>
        <p:nvSpPr>
          <p:cNvPr id="14" name="Text 12"/>
          <p:cNvSpPr/>
          <p:nvPr/>
        </p:nvSpPr>
        <p:spPr>
          <a:xfrm>
            <a:off x="978408" y="3739896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A1A1AA"/>
                </a:solidFill>
              </a:rPr>
              <a:t>✓ phone signed channel open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978408" y="4078224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1A1AA"/>
                </a:solidFill>
              </a:rPr>
              <a:t>voucher 1: +$0.012 → cumulative $0.012</a:t>
            </a:r>
            <a:endParaRPr lang="en-US" sz="860" dirty="0"/>
          </a:p>
        </p:txBody>
      </p:sp>
      <p:sp>
        <p:nvSpPr>
          <p:cNvPr id="16" name="Text 14"/>
          <p:cNvSpPr/>
          <p:nvPr/>
        </p:nvSpPr>
        <p:spPr>
          <a:xfrm>
            <a:off x="978408" y="4416552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1A1AA"/>
                </a:solidFill>
              </a:rPr>
              <a:t>voucher 5: +$0.013 → cumulative $0.069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978408" y="4754880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F8B95"/>
                </a:solidFill>
              </a:rPr>
              <a:t>✕ prompt injection: requested $5.00</a:t>
            </a:r>
            <a:endParaRPr lang="en-US" sz="860" dirty="0"/>
          </a:p>
        </p:txBody>
      </p:sp>
      <p:sp>
        <p:nvSpPr>
          <p:cNvPr id="18" name="Text 16"/>
          <p:cNvSpPr/>
          <p:nvPr/>
        </p:nvSpPr>
        <p:spPr>
          <a:xfrm>
            <a:off x="978408" y="5093208"/>
            <a:ext cx="3803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FF8B95"/>
                </a:solidFill>
              </a:rPr>
              <a:t>✕ rejected: cumulative &gt; deposit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5440680" y="2240280"/>
            <a:ext cx="2423160" cy="3840480"/>
          </a:xfrm>
          <a:prstGeom prst="roundRect">
            <a:avLst>
              <a:gd name="adj" fmla="val 3019"/>
            </a:avLst>
          </a:prstGeom>
          <a:solidFill>
            <a:srgbClr val="0D0D0F"/>
          </a:solidFill>
          <a:ln w="12700">
            <a:solidFill>
              <a:srgbClr val="3030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41848" y="246888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7F7F8"/>
                </a:solidFill>
              </a:rPr>
              <a:t>BOUNDKEY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7040880" y="2468880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A1A1AA"/>
                </a:solidFill>
              </a:rPr>
              <a:t>7Kp…3Lm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5641848" y="29535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7F7F8"/>
                </a:solidFill>
              </a:rPr>
              <a:t>Capability active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5669280" y="3474720"/>
            <a:ext cx="1965960" cy="1874520"/>
          </a:xfrm>
          <a:prstGeom prst="roundRect">
            <a:avLst>
              <a:gd name="adj" fmla="val 3902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61304" y="3703320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F0A0"/>
                </a:solidFill>
              </a:rPr>
              <a:t>● ACTIVE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61304" y="4114800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F7F8"/>
                </a:solidFill>
              </a:rPr>
              <a:t>Codex → Metered Research API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61304" y="4498848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F0A0"/>
                </a:solidFill>
              </a:rPr>
              <a:t>Hard cap  $0.50 USDC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61304" y="487375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1A1AA"/>
                </a:solidFill>
              </a:rPr>
              <a:t>Session key  CR8ug…gQGq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9864" y="5715000"/>
            <a:ext cx="1764792" cy="64008"/>
          </a:xfrm>
          <a:prstGeom prst="rect">
            <a:avLst/>
          </a:prstGeom>
          <a:solidFill>
            <a:srgbClr val="29312A"/>
          </a:solidFill>
          <a:ln w="12700">
            <a:solidFill>
              <a:srgbClr val="2931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9864" y="5715000"/>
            <a:ext cx="247071" cy="64008"/>
          </a:xfrm>
          <a:prstGeom prst="rect">
            <a:avLst/>
          </a:prstGeom>
          <a:solidFill>
            <a:srgbClr val="8AF0A0"/>
          </a:solidFill>
          <a:ln w="12700">
            <a:solidFill>
              <a:srgbClr val="8AF0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9864" y="5897880"/>
            <a:ext cx="1764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1A1AA"/>
                </a:solidFill>
              </a:rPr>
              <a:t>5 signed vouchers · $0.431 remaining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366760" y="196596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31352" y="213055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MPP SERVICE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31352" y="244144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Returns 402 session challenge and later verifies voucher commits.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66760" y="3657600"/>
            <a:ext cx="2331720" cy="1097280"/>
          </a:xfrm>
          <a:prstGeom prst="roundRect">
            <a:avLst>
              <a:gd name="adj" fmla="val 6667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31352" y="3822192"/>
            <a:ext cx="2002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F0A0"/>
                </a:solidFill>
              </a:rPr>
              <a:t>SOLANA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31352" y="413308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Payment Channel enforces payee/signature/deposit constraints.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TECHNICAL PROOF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Not just a UI wrapper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The repo contains protocol-level work judges can inspect.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40487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F0A0"/>
                </a:solidFill>
              </a:rPr>
              <a:t>REQUEST PROOF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715768"/>
            <a:ext cx="2185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Ephemeral Ed25519 key signs the BoundKey authorization request. Tampering breaks verification.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0" y="22402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22192" y="240487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2FF"/>
                </a:solidFill>
              </a:rPr>
              <a:t>VOUCHER BYTES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22192" y="2715768"/>
            <a:ext cx="2185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Canonical 50-byte payload: magic + channel id + u64 cumulative + i64 expiry.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2240280"/>
            <a:ext cx="2514600" cy="2194560"/>
          </a:xfrm>
          <a:prstGeom prst="roundRect">
            <a:avLst>
              <a:gd name="adj" fmla="val 3333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404872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BRIDGE OPENER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56832" y="2715768"/>
            <a:ext cx="21854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Custom MPP SessionOpener: QR to phone, wait for mobile open, resume SessionFetch.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418320" y="2331720"/>
            <a:ext cx="1783080" cy="1965960"/>
          </a:xfrm>
          <a:prstGeom prst="roundRect">
            <a:avLst>
              <a:gd name="adj" fmla="val 4103"/>
            </a:avLst>
          </a:prstGeom>
          <a:solidFill>
            <a:srgbClr val="102014"/>
          </a:solidFill>
          <a:ln w="12700">
            <a:solidFill>
              <a:srgbClr val="316B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48088" y="2724912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AF0A0"/>
                </a:solidFill>
              </a:rPr>
              <a:t>7/7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9802368" y="336499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protocol tests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passing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WHY SOLANA MOBILE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The phone is the trusted approval surface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Mobile is not decorative; it is the security boundary.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4712" y="2496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F0A0"/>
                </a:solidFill>
              </a:rPr>
              <a:t>MOBILE WALLET ADAPTER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24712" y="2807208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Uses the user’s existing wallet. No seed phrase export. No custom wallet to audit.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9476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59352" y="2496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2FF"/>
                </a:solidFill>
              </a:rPr>
              <a:t>QR HANDOFF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59352" y="2807208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Desktop/cloud agents can request authority without sharing the payer key.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629400" y="2331720"/>
            <a:ext cx="2468880" cy="2148840"/>
          </a:xfrm>
          <a:prstGeom prst="roundRect">
            <a:avLst>
              <a:gd name="adj" fmla="val 3404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93992" y="2496312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ACTIVITY LOOP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93992" y="2807208"/>
            <a:ext cx="21396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The app becomes the financial remote for agent approvals, live caps and blocked attempts.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692640" y="2578608"/>
            <a:ext cx="1417320" cy="1417320"/>
          </a:xfrm>
          <a:prstGeom prst="roundRect">
            <a:avLst>
              <a:gd name="adj" fmla="val 5161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94392" y="269748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F7F8"/>
                </a:solidFill>
              </a:rPr>
              <a:t>Seeker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7F7F8"/>
                </a:solidFill>
              </a:rPr>
              <a:t>ready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DEMO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One real flow + one deterministic attack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Do not let RPC/wallet issues ruin the pitch.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2084832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2494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F0A0"/>
                </a:solidFill>
              </a:rPr>
              <a:t>LIVE PROOF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60320"/>
            <a:ext cx="25968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Run demo merchant → MPP challenge → phone MWA signs channel open → agent streams metered chunks → save transaction/receipt.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2084832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22494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EA2FF"/>
                </a:solidFill>
              </a:rPr>
              <a:t>FALLBACK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16552" y="2560320"/>
            <a:ext cx="25968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Offline web/mobile demo shows the same invariants: hard cap, payee binding, session signer only.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680960" y="2084832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45552" y="2249424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</a:rPr>
              <a:t>EVIDENCE BUNDLE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845552" y="2560320"/>
            <a:ext cx="259689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A1A1AA"/>
                </a:solidFill>
              </a:rPr>
              <a:t>APK, GitHub, video, deck, channel id, explorer link, test output, README security model.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AF0A0"/>
                </a:solidFill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6766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7F7F8"/>
                </a:solidFill>
              </a:rPr>
              <a:t>From hackathon demo to agent money permissions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12648" y="1737360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</a:rPr>
              <a:t>Start narrow. Expand only after the live primitive works.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22677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AF0A0"/>
                </a:solidFill>
              </a:rPr>
              <a:t>V0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72768" y="2203704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73820"/>
          </a:solidFill>
          <a:ln w="12700">
            <a:solidFill>
              <a:srgbClr val="316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340864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7F7F8"/>
                </a:solidFill>
              </a:rPr>
              <a:t>one agent · one service · one cap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1717A"/>
                </a:solidFill>
              </a:rPr>
              <a:t>V1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72768" y="2862072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299923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1A1AA"/>
                </a:solidFill>
              </a:rPr>
              <a:t>multiple providers under a task budget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584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1717A"/>
                </a:solidFill>
              </a:rPr>
              <a:t>V2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572768" y="352044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657600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1A1AA"/>
                </a:solidFill>
              </a:rPr>
              <a:t>recurring allowances + team policy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24281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1717A"/>
                </a:solidFill>
              </a:rPr>
              <a:t>V3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572768" y="4178808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83080" y="4315968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1A1AA"/>
                </a:solidFill>
              </a:rPr>
              <a:t>agent identity + merchant reputation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71717A"/>
                </a:solidFill>
              </a:rPr>
              <a:t>V4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572768" y="4837176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151517"/>
          </a:solidFill>
          <a:ln w="12700">
            <a:solidFill>
              <a:srgbClr val="2929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83080" y="4974336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1A1AA"/>
                </a:solidFill>
              </a:rPr>
              <a:t>real-world commerce permissions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0" y="242316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173820"/>
          </a:solidFill>
          <a:ln w="12700">
            <a:solidFill>
              <a:srgbClr val="316B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9640" y="2788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F0A0"/>
                </a:solidFill>
              </a:rPr>
              <a:t>Winning claim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4964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7F7F8"/>
                </a:solidFill>
              </a:rPr>
              <a:t>Autonomous software should receive exactly the financial authority required for a task — not a wallet full of money.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644652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71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BOUNDKEY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384280" y="6446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71717A"/>
                </a:solidFill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BoundKey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BoundKey Pitch Deck</dc:title>
  <dc:subject>Solana Mobile hackathon pitch deck</dc:subject>
  <dc:creator>BoundKey</dc:creator>
  <cp:lastModifiedBy>BoundKey</cp:lastModifiedBy>
  <cp:revision>1</cp:revision>
  <dcterms:created xsi:type="dcterms:W3CDTF">2026-09-11T19:33:59Z</dcterms:created>
  <dcterms:modified xsi:type="dcterms:W3CDTF">2026-09-11T19:33:59Z</dcterms:modified>
</cp:coreProperties>
</file>