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9ddf2d5ef74353" /><Relationship Type="http://schemas.openxmlformats.org/officeDocument/2006/relationships/extended-properties" Target="/docProps/app.xml" Id="R6a4ab1af1c7d40e2" /><Relationship Type="http://schemas.openxmlformats.org/officeDocument/2006/relationships/officeDocument" Target="/ppt/presentation.xml" Id="R916799928c5642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197f5594b44ca0"/>
  </p:sldMasterIdLst>
  <p:notesMasterIdLst>
    <p:notesMasterId xmlns:r="http://schemas.openxmlformats.org/officeDocument/2006/relationships" r:id="Rbdf9f385188748d6"/>
  </p:notesMasterIdLst>
  <p:sldIdLst>
    <p:sldId xmlns:r="http://schemas.openxmlformats.org/officeDocument/2006/relationships" id="256" r:id="R8db1ac15fba2408b"/>
    <p:sldId xmlns:r="http://schemas.openxmlformats.org/officeDocument/2006/relationships" id="257" r:id="R2b2179b71737403a"/>
    <p:sldId xmlns:r="http://schemas.openxmlformats.org/officeDocument/2006/relationships" id="258" r:id="Re545cd7422814ced"/>
    <p:sldId xmlns:r="http://schemas.openxmlformats.org/officeDocument/2006/relationships" id="259" r:id="R611799e29b1a4218"/>
    <p:sldId xmlns:r="http://schemas.openxmlformats.org/officeDocument/2006/relationships" id="260" r:id="Ra09feb13e6ac4b4e"/>
    <p:sldId xmlns:r="http://schemas.openxmlformats.org/officeDocument/2006/relationships" id="261" r:id="Ra4fc9b1afbf84bb8"/>
    <p:sldId xmlns:r="http://schemas.openxmlformats.org/officeDocument/2006/relationships" id="262" r:id="R16fceed2ec1e48e9"/>
    <p:sldId xmlns:r="http://schemas.openxmlformats.org/officeDocument/2006/relationships" id="263" r:id="R652a94d79a704066"/>
    <p:sldId xmlns:r="http://schemas.openxmlformats.org/officeDocument/2006/relationships" id="264" r:id="Rf5843f52b65c4ffb"/>
  </p:sldIdLst>
  <p:sldSz cx="12191695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552c94ebbc4cdc" /><Relationship Type="http://schemas.openxmlformats.org/officeDocument/2006/relationships/slideMaster" Target="/ppt/slideMasters/slideMaster1.xml" Id="R03197f5594b44ca0" /><Relationship Type="http://schemas.openxmlformats.org/officeDocument/2006/relationships/notesMaster" Target="/ppt/notesMasters/notesMaster1.xml" Id="Rbdf9f385188748d6" /><Relationship Type="http://schemas.openxmlformats.org/officeDocument/2006/relationships/presProps" Target="/ppt/presProps.xml" Id="R8be56071c3f24500" /><Relationship Type="http://schemas.openxmlformats.org/officeDocument/2006/relationships/viewProps" Target="/ppt/viewProps.xml" Id="Rbcc88e6888cb4b1d" /><Relationship Type="http://schemas.openxmlformats.org/officeDocument/2006/relationships/tableStyles" Target="/ppt/tableStyles.xml" Id="R3a7a17764a5c4649" /><Relationship Type="http://schemas.openxmlformats.org/officeDocument/2006/relationships/slide" Target="/ppt/slides/slide1.xml" Id="R8db1ac15fba2408b" /><Relationship Type="http://schemas.openxmlformats.org/officeDocument/2006/relationships/slide" Target="/ppt/slides/slide2.xml" Id="R2b2179b71737403a" /><Relationship Type="http://schemas.openxmlformats.org/officeDocument/2006/relationships/slide" Target="/ppt/slides/slide3.xml" Id="Re545cd7422814ced" /><Relationship Type="http://schemas.openxmlformats.org/officeDocument/2006/relationships/slide" Target="/ppt/slides/slide4.xml" Id="R611799e29b1a4218" /><Relationship Type="http://schemas.openxmlformats.org/officeDocument/2006/relationships/slide" Target="/ppt/slides/slide5.xml" Id="Ra09feb13e6ac4b4e" /><Relationship Type="http://schemas.openxmlformats.org/officeDocument/2006/relationships/slide" Target="/ppt/slides/slide6.xml" Id="Ra4fc9b1afbf84bb8" /><Relationship Type="http://schemas.openxmlformats.org/officeDocument/2006/relationships/slide" Target="/ppt/slides/slide7.xml" Id="R16fceed2ec1e48e9" /><Relationship Type="http://schemas.openxmlformats.org/officeDocument/2006/relationships/slide" Target="/ppt/slides/slide8.xml" Id="R652a94d79a704066" /><Relationship Type="http://schemas.openxmlformats.org/officeDocument/2006/relationships/slide" Target="/ppt/slides/slide9.xml" Id="Rf5843f52b65c4f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6ed5b0bd5e49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8df7371f6d4615" /><Relationship Type="http://schemas.openxmlformats.org/officeDocument/2006/relationships/notesMaster" Target="/ppt/notesMasters/notesMaster1.xml" Id="Rb62b653f2ff44c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c9648807b34c28" /><Relationship Type="http://schemas.openxmlformats.org/officeDocument/2006/relationships/notesMaster" Target="/ppt/notesMasters/notesMaster1.xml" Id="R66fd3473a2d04a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a5487d8e204985" /><Relationship Type="http://schemas.openxmlformats.org/officeDocument/2006/relationships/notesMaster" Target="/ppt/notesMasters/notesMaster1.xml" Id="Rc20a4051f41142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c76b9ccef34c21" /><Relationship Type="http://schemas.openxmlformats.org/officeDocument/2006/relationships/notesMaster" Target="/ppt/notesMasters/notesMaster1.xml" Id="R4a73f35eb20747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6a945f94a4421c" /><Relationship Type="http://schemas.openxmlformats.org/officeDocument/2006/relationships/notesMaster" Target="/ppt/notesMasters/notesMaster1.xml" Id="Rde8443df386349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1fbbda6f6044cf" /><Relationship Type="http://schemas.openxmlformats.org/officeDocument/2006/relationships/notesMaster" Target="/ppt/notesMasters/notesMaster1.xml" Id="Rdd23c9d80d1940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ef45fc69954ce6" /><Relationship Type="http://schemas.openxmlformats.org/officeDocument/2006/relationships/notesMaster" Target="/ppt/notesMasters/notesMaster1.xml" Id="R3a64f1f5c3724f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0b84e078ec4678" /><Relationship Type="http://schemas.openxmlformats.org/officeDocument/2006/relationships/notesMaster" Target="/ppt/notesMasters/notesMaster1.xml" Id="R1d5e86d087f149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848f1ad3d941a2" /><Relationship Type="http://schemas.openxmlformats.org/officeDocument/2006/relationships/notesMaster" Target="/ppt/notesMasters/notesMaster1.xml" Id="Ra2e3fa2a47c343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e2c23233f54aee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68d39ec4774623" /><Relationship Type="http://schemas.openxmlformats.org/officeDocument/2006/relationships/slideLayout" Target="/ppt/slideLayouts/slideLayout1.xml" Id="Rac62980026f7443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62980026f74432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98ab4f0824a44" /><Relationship Type="http://schemas.openxmlformats.org/officeDocument/2006/relationships/notesSlide" Target="/ppt/notesSlides/notesSlide1.xml" Id="Rd4ce42020d5242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01dd3523b4508" /><Relationship Type="http://schemas.openxmlformats.org/officeDocument/2006/relationships/notesSlide" Target="/ppt/notesSlides/notesSlide2.xml" Id="R690fc93a485644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b4bd514e84f96" /><Relationship Type="http://schemas.openxmlformats.org/officeDocument/2006/relationships/notesSlide" Target="/ppt/notesSlides/notesSlide3.xml" Id="R2615638bced940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dea6841ab45d0" /><Relationship Type="http://schemas.openxmlformats.org/officeDocument/2006/relationships/notesSlide" Target="/ppt/notesSlides/notesSlide4.xml" Id="Raa0139afe79f4c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cd6133ea534370" /><Relationship Type="http://schemas.openxmlformats.org/officeDocument/2006/relationships/notesSlide" Target="/ppt/notesSlides/notesSlide5.xml" Id="R7a89938d001440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7778eccd64cbf" /><Relationship Type="http://schemas.openxmlformats.org/officeDocument/2006/relationships/notesSlide" Target="/ppt/notesSlides/notesSlide6.xml" Id="Rf37ecde0fb3b41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7a023eded49df" /><Relationship Type="http://schemas.openxmlformats.org/officeDocument/2006/relationships/notesSlide" Target="/ppt/notesSlides/notesSlide7.xml" Id="R5d334c5d77614c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d56f491844d6b" /><Relationship Type="http://schemas.openxmlformats.org/officeDocument/2006/relationships/notesSlide" Target="/ppt/notesSlides/notesSlide8.xml" Id="R887938dab6c84e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380c51b074e67" /><Relationship Type="http://schemas.openxmlformats.org/officeDocument/2006/relationships/notesSlide" Target="/ppt/notesSlides/notesSlide9.xml" Id="R5a6727ef3d8e47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C1E490D-B737-49D5-BB05-D2DAB6FF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66928"/>
            <a:ext cx="1920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8AF0A0"/>
                </a:solidFill>
              </a:rPr>
              <a:t>BOUNDKEY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D62D663-1D53-4ED7-85B7-4F447979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98448"/>
            <a:ext cx="566928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300" b="1">
                <a:solidFill>
                  <a:srgbClr val="F7F7F8"/>
                </a:solidFill>
              </a:rPr>
              <a:t>Give the agent a key.</a:t>
            </a:r>
            <a:endParaRPr sz="4300"/>
          </a:p>
          <a:p xmlns:a="http://schemas.openxmlformats.org/drawingml/2006/main">
            <a:pPr marL="0" indent="0">
              <a:buNone/>
            </a:pPr>
            <a:r>
              <a:rPr sz="4300" b="1">
                <a:solidFill>
                  <a:srgbClr val="F7F7F8"/>
                </a:solidFill>
              </a:rPr>
              <a:t>Not your wallet.</a:t>
            </a:r>
            <a:endParaRPr sz="43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8F0A8C2-0E03-4F21-A1EA-B2C759C7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61488"/>
            <a:ext cx="49377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A1A1AA"/>
                </a:solidFill>
              </a:rPr>
              <a:t>A Solana Mobile authorization layer for AI agents that need metered payments without holding the payer wallet key.</a:t>
            </a:r>
            <a:endParaRPr sz="14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7887FAC-68CF-4C41-8048-AF69C3EE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84448"/>
            <a:ext cx="1097280" cy="310896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113"/>
          </a:solidFill>
          <a:ln xmlns:a="http://schemas.openxmlformats.org/drawingml/2006/main" w="12700">
            <a:solidFill>
              <a:srgbClr val="29292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FBE543E-9763-4B5E-80A2-03B79AE2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671316"/>
            <a:ext cx="950976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8AF0A0"/>
                </a:solidFill>
              </a:rPr>
              <a:t>Solana Mobile</a:t>
            </a:r>
            <a:endParaRPr sz="7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C179CAB-5240-4D23-93C5-11E7B86C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3584448"/>
            <a:ext cx="1005840" cy="310896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113"/>
          </a:solidFill>
          <a:ln xmlns:a="http://schemas.openxmlformats.org/drawingml/2006/main" w="12700">
            <a:solidFill>
              <a:srgbClr val="29292E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22D09FE-866D-481D-9661-304BC267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671316"/>
            <a:ext cx="859536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8AF0A0"/>
                </a:solidFill>
              </a:rPr>
              <a:t>MPP Session</a:t>
            </a:r>
            <a:endParaRPr sz="7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FBA0100-0310-453E-8787-C63BBDF6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656" y="3584448"/>
            <a:ext cx="1234440" cy="310896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113"/>
          </a:solidFill>
          <a:ln xmlns:a="http://schemas.openxmlformats.org/drawingml/2006/main" w="12700">
            <a:solidFill>
              <a:srgbClr val="29292E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0D8531A-DFB4-4F47-A520-717C62CB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3671316"/>
            <a:ext cx="1088136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8AF0A0"/>
                </a:solidFill>
              </a:rPr>
              <a:t>Payment Channels</a:t>
            </a:r>
            <a:endParaRPr sz="7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6C06F3F-BDE6-44A9-9A75-6AE50E39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685800"/>
            <a:ext cx="2834640" cy="484632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0D0D0F"/>
          </a:solidFill>
          <a:ln xmlns:a="http://schemas.openxmlformats.org/drawingml/2006/main" w="12700">
            <a:solidFill>
              <a:srgbClr val="303035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2C581B9-E683-44D3-A68C-DA9334C6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914400"/>
            <a:ext cx="100584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650" b="1">
                <a:solidFill>
                  <a:srgbClr val="F7F7F8"/>
                </a:solidFill>
              </a:rPr>
              <a:t>BOUNDKEY</a:t>
            </a:r>
            <a:endParaRPr sz="6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C5F690F-276E-4E15-8E51-66A7EC5F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914400"/>
            <a:ext cx="56692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650">
                <a:solidFill>
                  <a:srgbClr val="A1A1AA"/>
                </a:solidFill>
              </a:rPr>
              <a:t>7Kp…3Lm</a:t>
            </a:r>
            <a:endParaRPr sz="6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C11893A-6C3F-49AE-B980-9B9B540E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1399032"/>
            <a:ext cx="243230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F7F7F8"/>
                </a:solidFill>
              </a:rPr>
              <a:t>Review permission</a:t>
            </a:r>
            <a:endParaRPr sz="18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0E710BE-CFC3-4CFE-A36F-1DD15B34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1920240"/>
            <a:ext cx="2377440" cy="187452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51517"/>
          </a:solidFill>
          <a:ln xmlns:a="http://schemas.openxmlformats.org/drawingml/2006/main" w="12700">
            <a:solidFill>
              <a:srgbClr val="29292E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C409B4B-BF54-4FBD-BA93-F4F03D70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2148840"/>
            <a:ext cx="199339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8AF0A0"/>
                </a:solidFill>
              </a:rPr>
              <a:t>MPP SESSION</a:t>
            </a:r>
            <a:endParaRPr sz="8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9B2FBC7-5966-4319-A876-5D269CB8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2560320"/>
            <a:ext cx="199339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7F7F8"/>
                </a:solidFill>
              </a:rPr>
              <a:t>Codex → Metered Research API</a:t>
            </a:r>
            <a:endParaRPr sz="9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D4B8D40-15DE-4475-AB14-7EEABDB0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2944368"/>
            <a:ext cx="199339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8AF0A0"/>
                </a:solidFill>
              </a:rPr>
              <a:t>Hard cap  $0.50 USDC</a:t>
            </a:r>
            <a:endParaRPr sz="10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42350AA-BFF8-4FE1-B9A5-C46E44B4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3319272"/>
            <a:ext cx="199339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>
                <a:solidFill>
                  <a:srgbClr val="A1A1AA"/>
                </a:solidFill>
              </a:rPr>
              <a:t>Session key  CR8ug…gQGq</a:t>
            </a:r>
            <a:endParaRPr sz="7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3F63C30-4719-487C-B449-FDA2325C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069080"/>
            <a:ext cx="2194560" cy="41148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8AF0A0"/>
          </a:solidFill>
          <a:ln xmlns:a="http://schemas.openxmlformats.org/drawingml/2006/main" w="12700">
            <a:solidFill>
              <a:srgbClr val="8AF0A0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4BEF841-A993-4DE9-BE91-B3802792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992" y="4215384"/>
            <a:ext cx="1956816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07150A"/>
                </a:solidFill>
              </a:rPr>
              <a:t>Authorize up to $0.50</a:t>
            </a:r>
            <a:endParaRPr sz="9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C794848-D693-47C8-BE04-217AD51D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2651760"/>
            <a:ext cx="132588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51517"/>
          </a:solidFill>
          <a:ln xmlns:a="http://schemas.openxmlformats.org/drawingml/2006/main" w="12700">
            <a:solidFill>
              <a:srgbClr val="29292E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8B2127B-60FA-4B9A-A52E-D1C8812B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1032" y="2816352"/>
            <a:ext cx="99669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8EA2FF"/>
                </a:solidFill>
              </a:rPr>
              <a:t>AGENT</a:t>
            </a:r>
            <a:endParaRPr sz="12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CDD00FA-7BCE-4B90-9805-C047ED42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1032" y="3127248"/>
            <a:ext cx="99669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1A1AA"/>
                </a:solidFill>
              </a:rPr>
              <a:t>Disposable</a:t>
            </a:r>
            <a:endParaRPr sz="950"/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1A1AA"/>
                </a:solidFill>
              </a:rPr>
              <a:t>session key</a:t>
            </a:r>
            <a:endParaRPr sz="9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B433AF0-6A96-496E-A368-471D38FF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46520"/>
            <a:ext cx="1188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71717A"/>
                </a:solidFill>
                <a:latin typeface="Aptos"/>
                <a:ea typeface="Aptos"/>
                <a:cs typeface="Aptos"/>
              </a:rPr>
              <a:t>BOUNDKEY</a:t>
            </a:r>
            <a:endParaRPr sz="7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0CC6372-8745-4878-B405-ADC35FC7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446520"/>
            <a:ext cx="3657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00" b="1">
                <a:solidFill>
                  <a:srgbClr val="71717A"/>
                </a:solidFill>
              </a:rPr>
              <a:t>01</a:t>
            </a:r>
            <a:endParaRPr sz="700"/>
          </a:p>
        </p:txBody>
      </p:sp>
    </p:spTree>
    <p:extLst>
      <p:ext uri="{BB962C8B-B14F-4D97-AF65-F5344CB8AC3E}">
        <p14:creationId xmlns:p14="http://schemas.microsoft.com/office/powerpoint/2010/main" val="20198879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147F0FA-CEC9-45CF-B8F9-0AE04793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02920"/>
            <a:ext cx="457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8AF0A0"/>
                </a:solidFill>
              </a:rPr>
              <a:t>PROBLEM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0AC22F5-23F1-4679-BDFD-27394BFD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22960"/>
            <a:ext cx="676656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7F7F8"/>
                </a:solidFill>
              </a:rPr>
              <a:t>Agent payments break trust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905F53-5A7C-4623-97C8-AF098C86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737360"/>
            <a:ext cx="61264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A1A1AA"/>
                </a:solidFill>
              </a:rPr>
              <a:t>Autonomy is useful only if money can move safely.</a:t>
            </a:r>
            <a:endParaRPr sz="1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1496AD6-FAEA-470B-A332-7BE416A3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31720"/>
            <a:ext cx="2423160" cy="187452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51517"/>
          </a:solidFill>
          <a:ln xmlns:a="http://schemas.openxmlformats.org/drawingml/2006/main" w="12700">
            <a:solidFill>
              <a:srgbClr val="29292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D21D96A-9CFE-4764-A48D-C44E7167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496312"/>
            <a:ext cx="209397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8B95"/>
                </a:solidFill>
              </a:rPr>
              <a:t>Option A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678A2D7-CCA9-4098-B201-30F3B25F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807208"/>
            <a:ext cx="2093976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1A1AA"/>
                </a:solidFill>
              </a:rPr>
              <a:t>Paste a wallet key into the agent runtime. Too much authority.</a:t>
            </a:r>
            <a:endParaRPr sz="9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87292B8-F28C-467E-B223-03731B3F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331720"/>
            <a:ext cx="2423160" cy="187452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51517"/>
          </a:solidFill>
          <a:ln xmlns:a="http://schemas.openxmlformats.org/drawingml/2006/main" w="12700">
            <a:solidFill>
              <a:srgbClr val="29292E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11C58C7-C31A-41B8-9079-980604BA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2496312"/>
            <a:ext cx="209397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D166"/>
                </a:solidFill>
              </a:rPr>
              <a:t>Option B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9CCE051-EB6D-418A-AE21-9E7F0B02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2807208"/>
            <a:ext cx="2093976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1A1AA"/>
                </a:solidFill>
              </a:rPr>
              <a:t>Approve every tiny API payment. Autonomy disappears.</a:t>
            </a:r>
            <a:endParaRPr sz="9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0E18ED6-9227-4AAD-B0B7-0D96FD8A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331720"/>
            <a:ext cx="2423160" cy="187452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51517"/>
          </a:solidFill>
          <a:ln xmlns:a="http://schemas.openxmlformats.org/drawingml/2006/main" w="12700">
            <a:solidFill>
              <a:srgbClr val="29292E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99C8607-1052-44B3-8BCE-3FA03C32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2496312"/>
            <a:ext cx="209397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8EA2FF"/>
                </a:solidFill>
              </a:rPr>
              <a:t>Option C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6EE1DDE-E988-44CE-A6F3-DE60AC57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2807208"/>
            <a:ext cx="2093976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1A1AA"/>
                </a:solidFill>
              </a:rPr>
              <a:t>Prefund throwaway wallets. Now wallet lifecycle is the product.</a:t>
            </a:r>
            <a:endParaRPr sz="9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60DD252-BB1D-4BCF-8E23-0EB6AB9C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240280"/>
            <a:ext cx="2011680" cy="210312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2A1214"/>
          </a:solidFill>
          <a:ln xmlns:a="http://schemas.openxmlformats.org/drawingml/2006/main" w="12700">
            <a:solidFill>
              <a:srgbClr val="5C2228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980FDAC-04CC-4438-A22D-03AEF35D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048" y="2743200"/>
            <a:ext cx="1508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7F7F8"/>
                </a:solidFill>
              </a:rPr>
              <a:t>Prompt injection asks for $5.00</a:t>
            </a:r>
            <a:endParaRPr sz="18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280E40C-313F-400B-85D3-A6AB01D1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6336" y="3438144"/>
            <a:ext cx="1463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D9A4A9"/>
                </a:solidFill>
              </a:rPr>
              <a:t>Without scoping, a small tool call becomes a wallet risk.</a:t>
            </a:r>
            <a:endParaRPr sz="10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4810DAA-217B-4335-A008-079D0B29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46520"/>
            <a:ext cx="1188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71717A"/>
                </a:solidFill>
                <a:latin typeface="Aptos"/>
                <a:ea typeface="Aptos"/>
                <a:cs typeface="Aptos"/>
              </a:rPr>
              <a:t>BOUNDKEY</a:t>
            </a:r>
            <a:endParaRPr sz="7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0FC485E-9E85-4406-B1FB-44B48DD2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446520"/>
            <a:ext cx="3657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00" b="1">
                <a:solidFill>
                  <a:srgbClr val="71717A"/>
                </a:solidFill>
              </a:rPr>
              <a:t>02</a:t>
            </a:r>
            <a:endParaRPr sz="700"/>
          </a:p>
        </p:txBody>
      </p:sp>
    </p:spTree>
    <p:extLst>
      <p:ext uri="{BB962C8B-B14F-4D97-AF65-F5344CB8AC3E}">
        <p14:creationId xmlns:p14="http://schemas.microsoft.com/office/powerpoint/2010/main" val="15546447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3D18343-652C-4151-A44C-78432A7E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02920"/>
            <a:ext cx="457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8AF0A0"/>
                </a:solidFill>
              </a:rPr>
              <a:t>INSIGHT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252D4A8-2B76-4C40-B6B1-394D7F67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22960"/>
            <a:ext cx="676656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7F7F8"/>
                </a:solidFill>
              </a:rPr>
              <a:t>Split financial authority across devices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FCB1EAD-B4F3-48C7-B911-F8A10C1F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737360"/>
            <a:ext cx="61264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A1A1AA"/>
                </a:solidFill>
              </a:rPr>
              <a:t>The phone is the root of authority. The agent only gets a scoped capability.</a:t>
            </a:r>
            <a:endParaRPr sz="1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622D4E5-4030-4852-A033-6D80A4DB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31720"/>
            <a:ext cx="2240280" cy="187452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51517"/>
          </a:solidFill>
          <a:ln xmlns:a="http://schemas.openxmlformats.org/drawingml/2006/main" w="12700">
            <a:solidFill>
              <a:srgbClr val="29292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0B03D62-5782-4595-ADE1-596FE0E8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496312"/>
            <a:ext cx="191109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8AF0A0"/>
                </a:solidFill>
              </a:rPr>
              <a:t>PHONE / SEEKER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0BD15CF-A07A-4557-8BAE-6709DB5F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807208"/>
            <a:ext cx="1911096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1A1AA"/>
                </a:solidFill>
              </a:rPr>
              <a:t>Payer wallet</a:t>
            </a:r>
            <a:endParaRPr sz="950"/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1A1AA"/>
                </a:solidFill>
              </a:rPr>
              <a:t>Mobile Wallet Adapter</a:t>
            </a:r>
            <a:endParaRPr sz="950"/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1A1AA"/>
                </a:solidFill>
              </a:rPr>
              <a:t>Human review</a:t>
            </a:r>
            <a:endParaRPr sz="9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6CAD40F-9566-435F-A0B0-2C9FCAEE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154680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8AF0A0"/>
                </a:solidFill>
              </a:rPr>
              <a:t>→</a:t>
            </a:r>
            <a:endParaRPr sz="19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4D9A2BE-4BEF-4CC2-A6EA-B7C94D98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240280"/>
            <a:ext cx="2423160" cy="233172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151517"/>
          </a:solidFill>
          <a:ln xmlns:a="http://schemas.openxmlformats.org/drawingml/2006/main" w="12700">
            <a:solidFill>
              <a:srgbClr val="29292E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6DA81E4-8D4E-4738-883C-483B07D3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2404872"/>
            <a:ext cx="209397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7F7F8"/>
                </a:solidFill>
              </a:rPr>
              <a:t>SOLANA CHANNEL</a:t>
            </a:r>
            <a:endParaRPr sz="1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C498B84-F8FB-4771-A6C8-D159ACEB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2715768"/>
            <a:ext cx="2093976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1A1AA"/>
                </a:solidFill>
              </a:rPr>
              <a:t>payer = phone</a:t>
            </a:r>
            <a:endParaRPr sz="950"/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1A1AA"/>
                </a:solidFill>
              </a:rPr>
              <a:t>payee = one service</a:t>
            </a:r>
            <a:endParaRPr sz="950"/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1A1AA"/>
                </a:solidFill>
              </a:rPr>
              <a:t>deposit = hard cap</a:t>
            </a:r>
            <a:endParaRPr sz="950"/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1A1AA"/>
                </a:solidFill>
              </a:rPr>
              <a:t>authorized signer = agent key</a:t>
            </a:r>
            <a:endParaRPr sz="9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B54F717-0489-40DC-83C2-3EC1F2F3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3154680"/>
            <a:ext cx="32918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8AF0A0"/>
                </a:solidFill>
              </a:rPr>
              <a:t>←</a:t>
            </a:r>
            <a:endParaRPr sz="19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7D9AE41-6402-43AD-B593-60317D8D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31720"/>
            <a:ext cx="2240280" cy="187452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51517"/>
          </a:solidFill>
          <a:ln xmlns:a="http://schemas.openxmlformats.org/drawingml/2006/main" w="12700">
            <a:solidFill>
              <a:srgbClr val="29292E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3AAF1A2-8182-498F-9DFD-5A59F1C1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92" y="2496312"/>
            <a:ext cx="191109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8EA2FF"/>
                </a:solidFill>
              </a:rPr>
              <a:t>AGENT MACHINE</a:t>
            </a:r>
            <a:endParaRPr sz="1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EAA10C3-13E3-482B-ACB0-320B65FF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92" y="2807208"/>
            <a:ext cx="1911096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1A1AA"/>
                </a:solidFill>
              </a:rPr>
              <a:t>Ephemeral Ed25519 key</a:t>
            </a:r>
            <a:endParaRPr sz="950"/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1A1AA"/>
                </a:solidFill>
              </a:rPr>
              <a:t>Signs cumulative vouchers</a:t>
            </a:r>
            <a:endParaRPr sz="950"/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1A1AA"/>
                </a:solidFill>
              </a:rPr>
              <a:t>No payer private key</a:t>
            </a:r>
            <a:endParaRPr sz="9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571126E-9ECF-4524-BEF4-A43AFCA9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2377440"/>
            <a:ext cx="1463040" cy="169164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3820"/>
          </a:solidFill>
          <a:ln xmlns:a="http://schemas.openxmlformats.org/drawingml/2006/main" w="12700">
            <a:solidFill>
              <a:srgbClr val="316B3C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2A073A0-1B8F-4B16-A13B-E28A6024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112" y="2798064"/>
            <a:ext cx="914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8AF0A0"/>
                </a:solidFill>
              </a:rPr>
              <a:t>Delegation</a:t>
            </a:r>
            <a:endParaRPr sz="1900"/>
          </a:p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8AF0A0"/>
                </a:solidFill>
              </a:rPr>
              <a:t>without</a:t>
            </a:r>
            <a:endParaRPr sz="1900"/>
          </a:p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8AF0A0"/>
                </a:solidFill>
              </a:rPr>
              <a:t>custody</a:t>
            </a:r>
            <a:endParaRPr sz="19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5ACFE06-DAF8-4461-94C4-51A2E3AB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46520"/>
            <a:ext cx="1188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71717A"/>
                </a:solidFill>
                <a:latin typeface="Aptos"/>
                <a:ea typeface="Aptos"/>
                <a:cs typeface="Aptos"/>
              </a:rPr>
              <a:t>BOUNDKEY</a:t>
            </a:r>
            <a:endParaRPr sz="7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446B677-DD75-4D79-992A-523F4EBB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446520"/>
            <a:ext cx="3657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00" b="1">
                <a:solidFill>
                  <a:srgbClr val="71717A"/>
                </a:solidFill>
              </a:rPr>
              <a:t>03</a:t>
            </a:r>
            <a:endParaRPr sz="700"/>
          </a:p>
        </p:txBody>
      </p:sp>
    </p:spTree>
    <p:extLst>
      <p:ext uri="{BB962C8B-B14F-4D97-AF65-F5344CB8AC3E}">
        <p14:creationId xmlns:p14="http://schemas.microsoft.com/office/powerpoint/2010/main" val="17172350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3EFC535-60B3-4035-9565-927DF70F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02920"/>
            <a:ext cx="457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8AF0A0"/>
                </a:solidFill>
              </a:rPr>
              <a:t>PRODUCT FLOW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863E099-579E-4AF7-9DB3-0B450A51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22960"/>
            <a:ext cx="676656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7F7F8"/>
                </a:solidFill>
              </a:rPr>
              <a:t>Scan. Review. Authorize. Let the agent work.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CE7D979-3BEC-4612-B952-B6A49EF8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737360"/>
            <a:ext cx="61264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A1A1AA"/>
                </a:solidFill>
              </a:rPr>
              <a:t>A mobile-first approval loop for desktop/cloud agents.</a:t>
            </a:r>
            <a:endParaRPr sz="1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3AB42F0-FF85-4177-98EC-56C23698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77440"/>
            <a:ext cx="2011680" cy="187452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51517"/>
          </a:solidFill>
          <a:ln xmlns:a="http://schemas.openxmlformats.org/drawingml/2006/main" w="12700">
            <a:solidFill>
              <a:srgbClr val="29292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8641A05-2EAF-4446-A370-C4931154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578608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8AF0A0"/>
                </a:solidFill>
              </a:rPr>
              <a:t>1</a:t>
            </a:r>
            <a:endParaRPr sz="1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0543D40-D8DA-4BC7-BC4E-2302934B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971800"/>
            <a:ext cx="1600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F7F7F8"/>
                </a:solidFill>
              </a:rPr>
              <a:t>Agent hits paid MPP endpoint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B634C2F-F7FE-4FD0-AEF3-BB1D1A84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593592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A1A1AA"/>
                </a:solidFill>
              </a:rPr>
              <a:t>402 session challenge</a:t>
            </a:r>
            <a:endParaRPr sz="9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2E501AD-09E0-4CEC-8E53-5238528C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77440"/>
            <a:ext cx="2011680" cy="187452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51517"/>
          </a:solidFill>
          <a:ln xmlns:a="http://schemas.openxmlformats.org/drawingml/2006/main" w="12700">
            <a:solidFill>
              <a:srgbClr val="29292E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21BD340-E440-4261-9D52-694372F4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392" y="2578608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8AF0A0"/>
                </a:solidFill>
              </a:rPr>
              <a:t>2</a:t>
            </a:r>
            <a:endParaRPr sz="1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3E6D4FF-9850-4CDE-A559-4C492039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392" y="2971800"/>
            <a:ext cx="1600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F7F7F8"/>
                </a:solidFill>
              </a:rPr>
              <a:t>QR goes to phone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C4AF677-74B9-46BB-837D-0FCA772E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392" y="3593592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A1A1AA"/>
                </a:solidFill>
              </a:rPr>
              <a:t>request contains cap + payee + key</a:t>
            </a:r>
            <a:endParaRPr sz="9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69DC992-16FA-450C-89B3-8654DC6A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377440"/>
            <a:ext cx="2011680" cy="187452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51517"/>
          </a:solidFill>
          <a:ln xmlns:a="http://schemas.openxmlformats.org/drawingml/2006/main" w="12700">
            <a:solidFill>
              <a:srgbClr val="29292E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2077D22-F535-4F65-BF2F-6A909FC3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2578608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8AF0A0"/>
                </a:solidFill>
              </a:rPr>
              <a:t>3</a:t>
            </a:r>
            <a:endParaRPr sz="1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80F9BA1-5E38-45F3-A57B-3699AF8C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2971800"/>
            <a:ext cx="1600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F7F7F8"/>
                </a:solidFill>
              </a:rPr>
              <a:t>Wallet signs on mobile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E0B7650-A84B-44E4-8A0E-2CC09242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3593592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A1A1AA"/>
                </a:solidFill>
              </a:rPr>
              <a:t>MWA signs channel open</a:t>
            </a:r>
            <a:endParaRPr sz="9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56AA57F-C34C-4711-8A7C-7512D616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377440"/>
            <a:ext cx="2011680" cy="187452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51517"/>
          </a:solidFill>
          <a:ln xmlns:a="http://schemas.openxmlformats.org/drawingml/2006/main" w="12700">
            <a:solidFill>
              <a:srgbClr val="29292E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E1F368A-B422-4A50-9058-DE699CC7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578608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8AF0A0"/>
                </a:solidFill>
              </a:rPr>
              <a:t>4</a:t>
            </a:r>
            <a:endParaRPr sz="18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C36DBAF-F2FB-43BD-94E3-4DEB0526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971800"/>
            <a:ext cx="1600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F7F7F8"/>
                </a:solidFill>
              </a:rPr>
              <a:t>Agent streams work</a:t>
            </a:r>
            <a:endParaRPr sz="13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508F05D-74A0-41AB-8329-C960337F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593592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A1A1AA"/>
                </a:solidFill>
              </a:rPr>
              <a:t>session key signs vouchers</a:t>
            </a:r>
            <a:endParaRPr sz="9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21FE59DD-336A-4934-80C6-53BDEA48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2377440"/>
            <a:ext cx="2011680" cy="187452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2A1214"/>
          </a:solidFill>
          <a:ln xmlns:a="http://schemas.openxmlformats.org/drawingml/2006/main" w="12700">
            <a:solidFill>
              <a:srgbClr val="5C2228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D071AA5-9092-43EA-B9C2-CBD3E070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2578608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FF8B95"/>
                </a:solidFill>
              </a:rPr>
              <a:t>5</a:t>
            </a:r>
            <a:endParaRPr sz="18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70F899A-FC1D-4F4F-A039-89124E19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2971800"/>
            <a:ext cx="1600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F7F7F8"/>
                </a:solidFill>
              </a:rPr>
              <a:t>Attack is bounded</a:t>
            </a:r>
            <a:endParaRPr sz="13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B22EEF5-E0EB-4C4E-95D1-C5E29220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3593592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D9A4A9"/>
                </a:solidFill>
              </a:rPr>
              <a:t>$5 / wrong payee fails</a:t>
            </a:r>
            <a:endParaRPr sz="9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1DFF13F-B4C0-46FB-B517-168F77DC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46520"/>
            <a:ext cx="1188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71717A"/>
                </a:solidFill>
                <a:latin typeface="Aptos"/>
                <a:ea typeface="Aptos"/>
                <a:cs typeface="Aptos"/>
              </a:rPr>
              <a:t>BOUNDKEY</a:t>
            </a:r>
            <a:endParaRPr sz="7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303A3D8-A574-4254-BA37-907390E3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446520"/>
            <a:ext cx="3657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00" b="1">
                <a:solidFill>
                  <a:srgbClr val="71717A"/>
                </a:solidFill>
              </a:rPr>
              <a:t>04</a:t>
            </a:r>
            <a:endParaRPr sz="700"/>
          </a:p>
        </p:txBody>
      </p:sp>
    </p:spTree>
    <p:extLst>
      <p:ext uri="{BB962C8B-B14F-4D97-AF65-F5344CB8AC3E}">
        <p14:creationId xmlns:p14="http://schemas.microsoft.com/office/powerpoint/2010/main" val="12658403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17CD5DB-E324-4011-B82D-6E6E6343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02920"/>
            <a:ext cx="457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8AF0A0"/>
                </a:solidFill>
              </a:rPr>
              <a:t>SESSION ARCHITECTURE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A49B9A7-8370-4DED-B861-AFC9C131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22960"/>
            <a:ext cx="676656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7F7F8"/>
                </a:solidFill>
              </a:rPr>
              <a:t>A cross-device MPP SessionOpener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5999435-771F-4852-A069-DC7D77E5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737360"/>
            <a:ext cx="61264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A1A1AA"/>
                </a:solidFill>
              </a:rPr>
              <a:t>Illustrative flow. Runtime evidence accompanies the submission.</a:t>
            </a:r>
            <a:endParaRPr sz="1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B38B1B4-936B-4BBA-B18F-0FA8C040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4832"/>
            <a:ext cx="4389120" cy="347472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0E0E10"/>
          </a:solidFill>
          <a:ln xmlns:a="http://schemas.openxmlformats.org/drawingml/2006/main" w="12700">
            <a:solidFill>
              <a:srgbClr val="303035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E39D316-999C-4FF3-AF12-39B4D6FF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4832"/>
            <a:ext cx="43891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4"/>
          </a:solidFill>
          <a:ln xmlns:a="http://schemas.openxmlformats.org/drawingml/2006/main" w="12700">
            <a:solidFill>
              <a:srgbClr val="242428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F2A439B-D132-486F-824C-E57725A8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9"/>
          </a:solidFill>
          <a:ln xmlns:a="http://schemas.openxmlformats.org/drawingml/2006/main" w="12700">
            <a:solidFill>
              <a:srgbClr val="343439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B7D5688-86D1-4F4C-A5EA-D68E1AE4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221992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9"/>
          </a:solidFill>
          <a:ln xmlns:a="http://schemas.openxmlformats.org/drawingml/2006/main" w="12700">
            <a:solidFill>
              <a:srgbClr val="343439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E6200C2-10C9-4AF5-942A-87A93FEB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2221992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3439"/>
          </a:solidFill>
          <a:ln xmlns:a="http://schemas.openxmlformats.org/drawingml/2006/main" w="12700">
            <a:solidFill>
              <a:srgbClr val="343439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78F4375-EF36-4AA3-A1B9-842F4461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032" y="2212848"/>
            <a:ext cx="1645920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00">
                <a:solidFill>
                  <a:srgbClr val="71717A"/>
                </a:solidFill>
              </a:rPr>
              <a:t>codex · research-agent</a:t>
            </a:r>
            <a:endParaRPr sz="7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D173493-0D57-49AE-8A8C-FEF10459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724912"/>
            <a:ext cx="380390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60">
                <a:solidFill>
                  <a:srgbClr val="F7F7F8"/>
                </a:solidFill>
              </a:rPr>
              <a:t>$ codex run research ACME</a:t>
            </a:r>
            <a:endParaRPr sz="86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6927057-2AB6-4700-A48E-59969E2E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063240"/>
            <a:ext cx="380390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60">
                <a:solidFill>
                  <a:srgbClr val="A1A1AA"/>
                </a:solidFill>
              </a:rPr>
              <a:t>← 402 · intent=session · voucherSigner=client</a:t>
            </a:r>
            <a:endParaRPr sz="86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6407C5D-62A0-4F80-BBCD-F3225AEE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401568"/>
            <a:ext cx="380390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60">
                <a:solidFill>
                  <a:srgbClr val="A1A1AA"/>
                </a:solidFill>
              </a:rPr>
              <a:t>QR shown: mobile authorization required</a:t>
            </a:r>
            <a:endParaRPr sz="86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21AFABC-18FF-47A0-9817-A945D4C8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39896"/>
            <a:ext cx="380390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60" b="1">
                <a:solidFill>
                  <a:srgbClr val="A1A1AA"/>
                </a:solidFill>
              </a:rPr>
              <a:t>✓ phone signed channel open</a:t>
            </a:r>
            <a:endParaRPr sz="86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D562724-82B8-485E-80B2-48FE07CD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078224"/>
            <a:ext cx="380390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60">
                <a:solidFill>
                  <a:srgbClr val="A1A1AA"/>
                </a:solidFill>
              </a:rPr>
              <a:t>voucher 1: +$0.012 → cumulative $0.012</a:t>
            </a:r>
            <a:endParaRPr sz="86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455EE96-3B08-412B-996C-B187F0E7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416552"/>
            <a:ext cx="380390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60">
                <a:solidFill>
                  <a:srgbClr val="A1A1AA"/>
                </a:solidFill>
              </a:rPr>
              <a:t>voucher 5: +$0.013 → cumulative $0.069</a:t>
            </a:r>
            <a:endParaRPr sz="86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9ED7564-CC32-4992-960A-FB3DCD90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754880"/>
            <a:ext cx="380390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60">
                <a:solidFill>
                  <a:srgbClr val="FF8B95"/>
                </a:solidFill>
              </a:rPr>
              <a:t>✕ prompt injection: requested $5.00</a:t>
            </a:r>
            <a:endParaRPr sz="86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3BFF57F-3240-49D9-9DC5-45D0543F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5093208"/>
            <a:ext cx="380390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60">
                <a:solidFill>
                  <a:srgbClr val="FF8B95"/>
                </a:solidFill>
              </a:rPr>
              <a:t>✕ rejected: cumulative &gt; deposit</a:t>
            </a:r>
            <a:endParaRPr sz="86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06E1F560-1BDB-446D-BAAF-44B1E026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240280"/>
            <a:ext cx="2423160" cy="3840480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0D0D0F"/>
          </a:solidFill>
          <a:ln xmlns:a="http://schemas.openxmlformats.org/drawingml/2006/main" w="12700">
            <a:solidFill>
              <a:srgbClr val="303035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8AB6127-B190-4D59-8CC4-97F2419D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1848" y="2468880"/>
            <a:ext cx="100584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650" b="1">
                <a:solidFill>
                  <a:srgbClr val="F7F7F8"/>
                </a:solidFill>
              </a:rPr>
              <a:t>BOUNDKEY</a:t>
            </a:r>
            <a:endParaRPr sz="6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4BB3F65-F3F7-40B8-BCA6-D8470E4C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468880"/>
            <a:ext cx="56692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650">
                <a:solidFill>
                  <a:srgbClr val="A1A1AA"/>
                </a:solidFill>
              </a:rPr>
              <a:t>7Kp…3Lm</a:t>
            </a:r>
            <a:endParaRPr sz="6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1DC965D-ADAB-438F-A9E6-BB762D62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1848" y="2953512"/>
            <a:ext cx="202082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F7F7F8"/>
                </a:solidFill>
              </a:rPr>
              <a:t>Capability active</a:t>
            </a:r>
            <a:endParaRPr sz="18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6D0D5820-B7E5-4836-A927-94CED701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474720"/>
            <a:ext cx="1965960" cy="187452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51517"/>
          </a:solidFill>
          <a:ln xmlns:a="http://schemas.openxmlformats.org/drawingml/2006/main" w="12700">
            <a:solidFill>
              <a:srgbClr val="29292E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CF28959-AE1C-4C8D-AF16-D0C0A433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304" y="3703320"/>
            <a:ext cx="158191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8AF0A0"/>
                </a:solidFill>
              </a:rPr>
              <a:t>● ACTIVE</a:t>
            </a:r>
            <a:endParaRPr sz="8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E5561C5-8F05-48F1-96CA-F58BD672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304" y="4114800"/>
            <a:ext cx="158191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7F7F8"/>
                </a:solidFill>
              </a:rPr>
              <a:t>Codex → Metered Research API</a:t>
            </a:r>
            <a:endParaRPr sz="9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99E2495-62CD-49D9-912F-0F335E9F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304" y="4498848"/>
            <a:ext cx="158191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8AF0A0"/>
                </a:solidFill>
              </a:rPr>
              <a:t>Hard cap  $0.50 USDC</a:t>
            </a:r>
            <a:endParaRPr sz="10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2D707EF-5052-4E7B-9520-8BEF02AC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304" y="4873752"/>
            <a:ext cx="158191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>
                <a:solidFill>
                  <a:srgbClr val="A1A1AA"/>
                </a:solidFill>
              </a:rPr>
              <a:t>Session key  CR8ug…gQGq</a:t>
            </a:r>
            <a:endParaRPr sz="7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6A9E470A-5BC9-4212-A939-5F6AC399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864" y="5715000"/>
            <a:ext cx="1764792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2A"/>
          </a:solidFill>
          <a:ln xmlns:a="http://schemas.openxmlformats.org/drawingml/2006/main" w="12700">
            <a:solidFill>
              <a:srgbClr val="29312A"/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A3420068-DDD6-4347-993D-53AFE632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864" y="5715000"/>
            <a:ext cx="247071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F0A0"/>
          </a:solidFill>
          <a:ln xmlns:a="http://schemas.openxmlformats.org/drawingml/2006/main" w="12700">
            <a:solidFill>
              <a:srgbClr val="8AF0A0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AF5834B-ED39-42CA-8388-552E1130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864" y="5897880"/>
            <a:ext cx="176479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>
                <a:solidFill>
                  <a:srgbClr val="A1A1AA"/>
                </a:solidFill>
              </a:rPr>
              <a:t>5 signed vouchers · $0.431 remaining</a:t>
            </a:r>
            <a:endParaRPr sz="70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7210D9AD-3301-48E1-971B-C850EA00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1965960"/>
            <a:ext cx="233172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51517"/>
          </a:solidFill>
          <a:ln xmlns:a="http://schemas.openxmlformats.org/drawingml/2006/main" w="12700">
            <a:solidFill>
              <a:srgbClr val="29292E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81512ED-1B16-47F8-BFFE-FF1ABFED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2130552"/>
            <a:ext cx="200253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D166"/>
                </a:solidFill>
              </a:rPr>
              <a:t>MPP SERVICE</a:t>
            </a:r>
            <a:endParaRPr sz="12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A0F4B0A-2FE1-4011-A3E5-3C983867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2441448"/>
            <a:ext cx="200253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1A1AA"/>
                </a:solidFill>
              </a:rPr>
              <a:t>Returns 402 session challenge and later verifies voucher commits.</a:t>
            </a:r>
            <a:endParaRPr sz="95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E4D472D6-CC49-4537-A73A-590A6E84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657600"/>
            <a:ext cx="233172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51517"/>
          </a:solidFill>
          <a:ln xmlns:a="http://schemas.openxmlformats.org/drawingml/2006/main" w="12700">
            <a:solidFill>
              <a:srgbClr val="29292E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47A3D427-2684-4CA2-9D98-800C8D37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3822192"/>
            <a:ext cx="200253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8AF0A0"/>
                </a:solidFill>
              </a:rPr>
              <a:t>SOLANA</a:t>
            </a:r>
            <a:endParaRPr sz="12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C2F19730-060C-4B95-82F5-04FBDFA9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4133088"/>
            <a:ext cx="2002536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1A1AA"/>
                </a:solidFill>
              </a:rPr>
              <a:t>Payment Channel enforces payee/signature/deposit constraints.</a:t>
            </a:r>
            <a:endParaRPr sz="95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0FA2358A-9F9A-459B-BD3F-B49BE757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46520"/>
            <a:ext cx="1188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71717A"/>
                </a:solidFill>
                <a:latin typeface="Aptos"/>
                <a:ea typeface="Aptos"/>
                <a:cs typeface="Aptos"/>
              </a:rPr>
              <a:t>BOUNDKEY</a:t>
            </a:r>
            <a:endParaRPr sz="7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63D75F75-228D-4AFD-B520-DFF8FA0A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446520"/>
            <a:ext cx="3657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00" b="1">
                <a:solidFill>
                  <a:srgbClr val="71717A"/>
                </a:solidFill>
              </a:rPr>
              <a:t>05</a:t>
            </a:r>
            <a:endParaRPr sz="700"/>
          </a:p>
        </p:txBody>
      </p:sp>
    </p:spTree>
    <p:extLst>
      <p:ext uri="{BB962C8B-B14F-4D97-AF65-F5344CB8AC3E}">
        <p14:creationId xmlns:p14="http://schemas.microsoft.com/office/powerpoint/2010/main" val="5062577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DB4FF3B-4A3B-4C57-8F9B-77DDF431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02920"/>
            <a:ext cx="457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8AF0A0"/>
                </a:solidFill>
              </a:rPr>
              <a:t>TECHNICAL PROOF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EE413AB-1355-4688-BCD2-46C06F6C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22960"/>
            <a:ext cx="676656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7F7F8"/>
                </a:solidFill>
              </a:rPr>
              <a:t>Not just a UI wrapper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17F1B90-169F-4948-B119-67698A7A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737360"/>
            <a:ext cx="61264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A1A1AA"/>
                </a:solidFill>
              </a:rPr>
              <a:t>The repo contains protocol-level work judges can inspect.</a:t>
            </a:r>
            <a:endParaRPr sz="1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5046418-10D2-4176-B8D9-80BD7480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40280"/>
            <a:ext cx="2514600" cy="219456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51517"/>
          </a:solidFill>
          <a:ln xmlns:a="http://schemas.openxmlformats.org/drawingml/2006/main" w="12700">
            <a:solidFill>
              <a:srgbClr val="29292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D436ADB-093D-4E0A-86F5-101D670F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404872"/>
            <a:ext cx="218541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8AF0A0"/>
                </a:solidFill>
              </a:rPr>
              <a:t>REQUEST PROOF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E8D7C12-5DBB-4CF0-93C4-3B33C04C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715768"/>
            <a:ext cx="2185416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1A1AA"/>
                </a:solidFill>
              </a:rPr>
              <a:t>Ephemeral Ed25519 key signs the BoundKey authorization request. Tampering breaks verification.</a:t>
            </a:r>
            <a:endParaRPr sz="9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1B572EC-7400-4721-AE91-0C6FB0BB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40280"/>
            <a:ext cx="2514600" cy="219456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51517"/>
          </a:solidFill>
          <a:ln xmlns:a="http://schemas.openxmlformats.org/drawingml/2006/main" w="12700">
            <a:solidFill>
              <a:srgbClr val="29292E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4C1B930-3EBF-4566-BB17-F5B97CE6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2404872"/>
            <a:ext cx="218541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8EA2FF"/>
                </a:solidFill>
              </a:rPr>
              <a:t>VOUCHER BYTES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28C8827-9CF2-4F81-8CFD-8847249C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2715768"/>
            <a:ext cx="2185416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1A1AA"/>
                </a:solidFill>
              </a:rPr>
              <a:t>Canonical 50-byte payload: magic + channel id + u64 cumulative + i64 expiry.</a:t>
            </a:r>
            <a:endParaRPr sz="9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1E2EA4B7-30B6-4424-B0D7-FC77CAC7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240280"/>
            <a:ext cx="2514600" cy="219456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51517"/>
          </a:solidFill>
          <a:ln xmlns:a="http://schemas.openxmlformats.org/drawingml/2006/main" w="12700">
            <a:solidFill>
              <a:srgbClr val="29292E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13D69EC-F1FD-4BE0-B5A8-290FD704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2404872"/>
            <a:ext cx="218541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D166"/>
                </a:solidFill>
              </a:rPr>
              <a:t>BRIDGE OPENER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91F61A8-507A-40B2-89B6-6BC1E752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2715768"/>
            <a:ext cx="2185416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1A1AA"/>
                </a:solidFill>
              </a:rPr>
              <a:t>Custom MPP SessionOpener: QR to phone, wait for mobile open, resume SessionFetch.</a:t>
            </a:r>
            <a:endParaRPr sz="9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B72B540-BC0D-4C5A-B37F-A1A20E49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331720"/>
            <a:ext cx="1783080" cy="196596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102014"/>
          </a:solidFill>
          <a:ln xmlns:a="http://schemas.openxmlformats.org/drawingml/2006/main" w="12700">
            <a:solidFill>
              <a:srgbClr val="316B3C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694A473-BAD6-48D4-A453-6E630A1F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088" y="2724912"/>
            <a:ext cx="8229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941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8AF0A0"/>
                </a:solidFill>
              </a:rPr>
              <a:t>23</a:t>
            </a:r>
            <a:endParaRPr sz="3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4097A6A-9C73-4606-8F23-1807FB2E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3364992"/>
            <a:ext cx="8686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432"/>
          </a:bodyPr>
          <a:lstStyle xmlns:a="http://schemas.openxmlformats.org/drawingml/2006/main">
            <a:defPPr>
              <a:defRPr sz="1050" b="1">
                <a:solidFill>
                  <a:srgbClr val="F7F7F8"/>
                </a:solidFill>
              </a:defRPr>
            </a:defPPr>
          </a:lstStyle>
          <a:p xmlns:a="http://schemas.openxmlformats.org/drawingml/2006/main">
            <a:pPr marL="0" indent="0" algn="ctr">
              <a:buNone/>
              <a:defRPr sz="1050" b="1">
                <a:solidFill>
                  <a:srgbClr val="F7F7F8"/>
                </a:solidFill>
              </a:defRPr>
            </a:pPr>
            <a:r>
              <a:rPr sz="1050" b="1">
                <a:solidFill>
                  <a:srgbClr val="F7F7F8"/>
                </a:solidFill>
              </a:rPr>
              <a:t>automated tests</a:t>
            </a:r>
            <a:endParaRPr sz="1200"/>
          </a:p>
          <a:p xmlns:a="http://schemas.openxmlformats.org/drawingml/2006/main">
            <a:pPr marL="0" indent="0" algn="ctr">
              <a:buNone/>
              <a:defRPr sz="1050" b="1">
                <a:solidFill>
                  <a:srgbClr val="F7F7F8"/>
                </a:solidFill>
              </a:defRPr>
            </a:pPr>
            <a:r>
              <a:rPr sz="1050" b="1">
                <a:solidFill>
                  <a:srgbClr val="F7F7F8"/>
                </a:solidFill>
              </a:rPr>
              <a:t>passing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D98559D-8311-4AAA-A3DA-36C69567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46520"/>
            <a:ext cx="1188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71717A"/>
                </a:solidFill>
                <a:latin typeface="Aptos"/>
                <a:ea typeface="Aptos"/>
                <a:cs typeface="Aptos"/>
              </a:rPr>
              <a:t>BOUNDKEY</a:t>
            </a:r>
            <a:endParaRPr sz="7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7CDE613-D85D-4BAC-AD8C-FF44F9D4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446520"/>
            <a:ext cx="3657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00" b="1">
                <a:solidFill>
                  <a:srgbClr val="71717A"/>
                </a:solidFill>
              </a:rPr>
              <a:t>06</a:t>
            </a:r>
            <a:endParaRPr sz="700"/>
          </a:p>
        </p:txBody>
      </p:sp>
    </p:spTree>
    <p:extLst>
      <p:ext uri="{BB962C8B-B14F-4D97-AF65-F5344CB8AC3E}">
        <p14:creationId xmlns:p14="http://schemas.microsoft.com/office/powerpoint/2010/main" val="12470989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0B914F6-1936-4585-8EAF-45D5BA70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02920"/>
            <a:ext cx="457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8AF0A0"/>
                </a:solidFill>
              </a:rPr>
              <a:t>WHY SOLANA MOBILE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944BCF9-4338-4689-90C6-FCFF6EE6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22960"/>
            <a:ext cx="676656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7F7F8"/>
                </a:solidFill>
              </a:rPr>
              <a:t>The phone is the trusted approval surface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A457C10-A1C3-46BC-BBE0-5EA892D9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737360"/>
            <a:ext cx="61264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A1A1AA"/>
                </a:solidFill>
              </a:rPr>
              <a:t>Mobile is not decorative; it is the security boundary.</a:t>
            </a:r>
            <a:endParaRPr sz="1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AA3A4E7-211B-4457-A5A2-24B6575C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331720"/>
            <a:ext cx="2468880" cy="214884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151517"/>
          </a:solidFill>
          <a:ln xmlns:a="http://schemas.openxmlformats.org/drawingml/2006/main" w="12700">
            <a:solidFill>
              <a:srgbClr val="29292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B0FA3AF-D600-4D79-9FE9-7D10CF8B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" y="2496312"/>
            <a:ext cx="213969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8AF0A0"/>
                </a:solidFill>
              </a:rPr>
              <a:t>MOBILE WALLET ADAPTER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296FCED-AF9A-43B3-90D9-234A6DC1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" y="2807208"/>
            <a:ext cx="2139696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1A1AA"/>
                </a:solidFill>
              </a:rPr>
              <a:t>Uses the user’s existing wallet. No seed phrase export. No custom wallet to audit.</a:t>
            </a:r>
            <a:endParaRPr sz="9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F467684-29B0-4410-82F3-B804D0A8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331720"/>
            <a:ext cx="2468880" cy="214884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151517"/>
          </a:solidFill>
          <a:ln xmlns:a="http://schemas.openxmlformats.org/drawingml/2006/main" w="12700">
            <a:solidFill>
              <a:srgbClr val="29292E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74071E8-A3BB-45B1-8DF3-5851C189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2496312"/>
            <a:ext cx="213969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8EA2FF"/>
                </a:solidFill>
              </a:rPr>
              <a:t>QR HANDOFF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BC9EB44-8A24-4449-A9A7-EBD77053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2807208"/>
            <a:ext cx="2139696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1A1AA"/>
                </a:solidFill>
              </a:rPr>
              <a:t>Desktop/cloud agents can request authority without sharing the payer key.</a:t>
            </a:r>
            <a:endParaRPr sz="9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B9DA2A6-F845-44B6-9DAB-79F31391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31720"/>
            <a:ext cx="2468880" cy="214884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151517"/>
          </a:solidFill>
          <a:ln xmlns:a="http://schemas.openxmlformats.org/drawingml/2006/main" w="12700">
            <a:solidFill>
              <a:srgbClr val="29292E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6BB4881-B4F9-48CB-947F-4F590A1D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496312"/>
            <a:ext cx="213969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D166"/>
                </a:solidFill>
              </a:rPr>
              <a:t>ACTIVITY LOOP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B4B8209-DC58-40FE-B25D-4B25C782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807208"/>
            <a:ext cx="2139696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1A1AA"/>
                </a:solidFill>
              </a:rPr>
              <a:t>The app becomes the financial remote for agent approvals, live caps and blocked attempts.</a:t>
            </a:r>
            <a:endParaRPr sz="9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A7597CE-23C0-48FC-82E9-A8AC7487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2578608"/>
            <a:ext cx="141732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151517"/>
          </a:solidFill>
          <a:ln xmlns:a="http://schemas.openxmlformats.org/drawingml/2006/main" w="12700">
            <a:solidFill>
              <a:srgbClr val="29292E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9960DC8-01BD-4A07-B60B-E6DD9898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47975"/>
            <a:ext cx="1171575" cy="666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F7F7F8"/>
                </a:solidFill>
              </a:defRPr>
            </a:defPPr>
          </a:lstStyle>
          <a:p xmlns:a="http://schemas.openxmlformats.org/drawingml/2006/main">
            <a:pPr marL="0" indent="0" algn="ctr">
              <a:buNone/>
              <a:defRPr sz="1650" b="1">
                <a:solidFill>
                  <a:srgbClr val="F7F7F8"/>
                </a:solidFill>
              </a:defRPr>
            </a:pPr>
            <a:r>
              <a:rPr sz="1650" b="1">
                <a:solidFill>
                  <a:srgbClr val="F7F7F8"/>
                </a:solidFill>
              </a:rPr>
              <a:t>Android</a:t>
            </a:r>
            <a:endParaRPr sz="2200"/>
          </a:p>
          <a:p xmlns:a="http://schemas.openxmlformats.org/drawingml/2006/main">
            <a:pPr marL="0" indent="0" algn="ctr">
              <a:buNone/>
              <a:defRPr sz="1650" b="1">
                <a:solidFill>
                  <a:srgbClr val="F7F7F8"/>
                </a:solidFill>
              </a:defRPr>
            </a:pPr>
            <a:r>
              <a:rPr sz="1650" b="1">
                <a:solidFill>
                  <a:srgbClr val="F7F7F8"/>
                </a:solidFill>
              </a:rPr>
              <a:t>prototype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F58111C-B295-44C9-A12B-D841E804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46520"/>
            <a:ext cx="1188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71717A"/>
                </a:solidFill>
                <a:latin typeface="Aptos"/>
                <a:ea typeface="Aptos"/>
                <a:cs typeface="Aptos"/>
              </a:rPr>
              <a:t>BOUNDKEY</a:t>
            </a:r>
            <a:endParaRPr sz="7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E35E56D-B470-45B0-8980-4EE5B194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446520"/>
            <a:ext cx="3657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00" b="1">
                <a:solidFill>
                  <a:srgbClr val="71717A"/>
                </a:solidFill>
              </a:rPr>
              <a:t>07</a:t>
            </a:r>
            <a:endParaRPr sz="700"/>
          </a:p>
        </p:txBody>
      </p:sp>
    </p:spTree>
    <p:extLst>
      <p:ext uri="{BB962C8B-B14F-4D97-AF65-F5344CB8AC3E}">
        <p14:creationId xmlns:p14="http://schemas.microsoft.com/office/powerpoint/2010/main" val="17531454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331DCA3-4054-4D03-BBC3-848098F9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02920"/>
            <a:ext cx="457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8AF0A0"/>
                </a:solidFill>
              </a:rPr>
              <a:t>DEMO AND VALIDATION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F8B94D7-F308-4F03-817B-60FD24D2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22960"/>
            <a:ext cx="676656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1344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7F7F8"/>
                </a:solidFill>
              </a:rPr>
              <a:t>Wallet authorization and bounded spending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E56255F-5A18-47C2-A015-D7C27332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737360"/>
            <a:ext cx="61264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A1A1AA"/>
                </a:solidFill>
              </a:rPr>
              <a:t>Android recording and reproducible protocol checks.</a:t>
            </a:r>
            <a:endParaRPr sz="1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10384C4-BCEE-419B-AEE2-05132C78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84832"/>
            <a:ext cx="2926080" cy="256032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51517"/>
          </a:solidFill>
          <a:ln xmlns:a="http://schemas.openxmlformats.org/drawingml/2006/main" w="12700">
            <a:solidFill>
              <a:srgbClr val="29292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D1ED98D-B5D7-4766-9198-AD1FA1F3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249424"/>
            <a:ext cx="259689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8AF0A0"/>
                </a:solidFill>
              </a:rPr>
              <a:t>LIVE PROOF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E323743-0950-44A6-8B77-383840D5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560320"/>
            <a:ext cx="2596896" cy="1965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1A1AA"/>
                </a:solidFill>
              </a:rPr>
              <a:t>Run demo merchant → MPP challenge → phone MWA signs channel open → agent streams metered chunks → save transaction/receipt.</a:t>
            </a:r>
            <a:endParaRPr sz="9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B701F56-EDC3-4B6F-91A3-CB29E4AD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2084832"/>
            <a:ext cx="2926080" cy="256032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51517"/>
          </a:solidFill>
          <a:ln xmlns:a="http://schemas.openxmlformats.org/drawingml/2006/main" w="12700">
            <a:solidFill>
              <a:srgbClr val="29292E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EB873F1-7C7E-4175-94FD-64905805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2249424"/>
            <a:ext cx="259689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8EA2FF"/>
                </a:solidFill>
              </a:rPr>
              <a:t>FALLBACK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1F8FCAC-6E14-4AEE-9A7F-FE059789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2560320"/>
            <a:ext cx="2596896" cy="1965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1A1AA"/>
                </a:solidFill>
              </a:rPr>
              <a:t>Offline web/mobile demo shows the same invariants: hard cap, payee binding, session signer only.</a:t>
            </a:r>
            <a:endParaRPr sz="9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D430C73-4A91-47D7-B2EB-92F7CED0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084832"/>
            <a:ext cx="2926080" cy="256032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51517"/>
          </a:solidFill>
          <a:ln xmlns:a="http://schemas.openxmlformats.org/drawingml/2006/main" w="12700">
            <a:solidFill>
              <a:srgbClr val="29292E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B1C8395-D627-4AB2-9953-4AB5F903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2249424"/>
            <a:ext cx="259689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D166"/>
                </a:solidFill>
              </a:rPr>
              <a:t>EVIDENCE BUNDLE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B8392BD-A3CC-47E2-981A-11CE3F2F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2560320"/>
            <a:ext cx="2596896" cy="1965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1A1AA"/>
                </a:solidFill>
              </a:rPr>
              <a:t>APK, GitHub, video, deck, channel id, explorer link, test output, README security model.</a:t>
            </a:r>
            <a:endParaRPr sz="9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CAEB05B-A02E-4644-85BE-D695F295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46520"/>
            <a:ext cx="1188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71717A"/>
                </a:solidFill>
                <a:latin typeface="Aptos"/>
                <a:ea typeface="Aptos"/>
                <a:cs typeface="Aptos"/>
              </a:rPr>
              <a:t>BOUNDKEY</a:t>
            </a:r>
            <a:endParaRPr sz="7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5531F1F-FC78-4853-8DBF-BCB44D4F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446520"/>
            <a:ext cx="3657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00" b="1">
                <a:solidFill>
                  <a:srgbClr val="71717A"/>
                </a:solidFill>
              </a:rPr>
              <a:t>08</a:t>
            </a:r>
            <a:endParaRPr sz="700"/>
          </a:p>
        </p:txBody>
      </p:sp>
    </p:spTree>
    <p:extLst>
      <p:ext uri="{BB962C8B-B14F-4D97-AF65-F5344CB8AC3E}">
        <p14:creationId xmlns:p14="http://schemas.microsoft.com/office/powerpoint/2010/main" val="8686774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E83FE72-C788-4099-8AE5-83EAF6B1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02920"/>
            <a:ext cx="457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8AF0A0"/>
                </a:solidFill>
              </a:rPr>
              <a:t>ROADMAP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33D26E9-6112-42FC-86E2-C56E4E99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822960"/>
            <a:ext cx="676656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7F7F8"/>
                </a:solidFill>
              </a:rPr>
              <a:t>From hackathon demo to agent money permissions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A1BBB45-05F6-4B19-BA1D-722AF338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737360"/>
            <a:ext cx="61264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A1A1AA"/>
                </a:solidFill>
              </a:rPr>
              <a:t>Start narrow. Expand only after the live primitive works.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75CBB75-57A9-4DAF-9678-96E50308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7712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8AF0A0"/>
                </a:solidFill>
              </a:rPr>
              <a:t>V0</a:t>
            </a:r>
            <a:endParaRPr sz="16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999DD3E-7D21-43DD-9440-270AB136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2203704"/>
            <a:ext cx="56692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73820"/>
          </a:solidFill>
          <a:ln xmlns:a="http://schemas.openxmlformats.org/drawingml/2006/main" w="12700">
            <a:solidFill>
              <a:srgbClr val="316B3C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F0F1B1A-01E9-44D5-88E8-3944030F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2340864"/>
            <a:ext cx="50292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7F7F8"/>
                </a:solidFill>
              </a:rPr>
              <a:t>one agent · one service · one cap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6804A9A-B4E7-4F8B-ABA5-27848002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6080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71717A"/>
                </a:solidFill>
              </a:rPr>
              <a:t>V1</a:t>
            </a:r>
            <a:endParaRPr sz="16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F23C762-AE63-4ADE-B132-06E122EF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2862072"/>
            <a:ext cx="56692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51517"/>
          </a:solidFill>
          <a:ln xmlns:a="http://schemas.openxmlformats.org/drawingml/2006/main" w="12700">
            <a:solidFill>
              <a:srgbClr val="29292E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696B435-7EB6-42E9-A736-AD1E8963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2999232"/>
            <a:ext cx="50292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A1A1AA"/>
                </a:solidFill>
              </a:rPr>
              <a:t>multiple providers under a task budget</a:t>
            </a:r>
            <a:endParaRPr sz="1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9C071C9-C8AE-4837-BF45-7F605763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4448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71717A"/>
                </a:solidFill>
              </a:rPr>
              <a:t>V2</a:t>
            </a:r>
            <a:endParaRPr sz="16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236C889-33EA-4C17-964F-CD821723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3520440"/>
            <a:ext cx="56692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51517"/>
          </a:solidFill>
          <a:ln xmlns:a="http://schemas.openxmlformats.org/drawingml/2006/main" w="12700">
            <a:solidFill>
              <a:srgbClr val="29292E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B3A76C9-A7AB-4294-A664-40C28CB5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3657600"/>
            <a:ext cx="50292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A1A1AA"/>
                </a:solidFill>
              </a:rPr>
              <a:t>recurring allowances + team policy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02D7E00-C4AD-4682-80F7-C7B754B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2816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71717A"/>
                </a:solidFill>
              </a:rPr>
              <a:t>V3</a:t>
            </a:r>
            <a:endParaRPr sz="16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5196F85F-C0CD-4435-9F24-C41E5DBC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4178808"/>
            <a:ext cx="56692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51517"/>
          </a:solidFill>
          <a:ln xmlns:a="http://schemas.openxmlformats.org/drawingml/2006/main" w="12700">
            <a:solidFill>
              <a:srgbClr val="29292E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995B806-C925-4E5D-AEBD-91C6AEC9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4315968"/>
            <a:ext cx="50292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A1A1AA"/>
                </a:solidFill>
              </a:rPr>
              <a:t>agent identity + merchant reputation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50EDD36-5F2B-4951-A3DC-74F9E16F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01184"/>
            <a:ext cx="457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71717A"/>
                </a:solidFill>
              </a:rPr>
              <a:t>V4</a:t>
            </a:r>
            <a:endParaRPr sz="16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2634493-5B0B-4EA4-9AA6-576CDF3C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4837176"/>
            <a:ext cx="56692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51517"/>
          </a:solidFill>
          <a:ln xmlns:a="http://schemas.openxmlformats.org/drawingml/2006/main" w="12700">
            <a:solidFill>
              <a:srgbClr val="29292E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CCECD72-1C5C-4A6D-8BD2-4C589693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4974336"/>
            <a:ext cx="50292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A1A1AA"/>
                </a:solidFill>
              </a:rPr>
              <a:t>real-world commerce permissions</a:t>
            </a:r>
            <a:endParaRPr sz="12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0EABBDE5-2E09-4021-8BEB-A382999C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23160"/>
            <a:ext cx="2468880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73820"/>
          </a:solidFill>
          <a:ln xmlns:a="http://schemas.openxmlformats.org/drawingml/2006/main" w="12700">
            <a:solidFill>
              <a:srgbClr val="316B3C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5259E16-3FC6-4712-A054-E4FFDE24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788920"/>
            <a:ext cx="1828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8AF0A0"/>
                </a:solidFill>
              </a:rPr>
              <a:t>Winning claim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A18D56F-3611-4B19-9D3B-28FD225B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246120"/>
            <a:ext cx="1828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F7F7F8"/>
                </a:solidFill>
              </a:rPr>
              <a:t>Autonomous software should receive exactly the financial authority required for a task — not a wallet full of money.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9DAECA0-F030-4F07-B205-6E23B81C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46520"/>
            <a:ext cx="1188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71717A"/>
                </a:solidFill>
                <a:latin typeface="Aptos"/>
                <a:ea typeface="Aptos"/>
                <a:cs typeface="Aptos"/>
              </a:rPr>
              <a:t>BOUNDKEY</a:t>
            </a:r>
            <a:endParaRPr sz="7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61AD0CE-5018-4776-A188-39238611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446520"/>
            <a:ext cx="3657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00" b="1">
                <a:solidFill>
                  <a:srgbClr val="71717A"/>
                </a:solidFill>
              </a:rPr>
              <a:t>09</a:t>
            </a:r>
            <a:endParaRPr sz="700"/>
          </a:p>
        </p:txBody>
      </p:sp>
    </p:spTree>
    <p:extLst>
      <p:ext uri="{BB962C8B-B14F-4D97-AF65-F5344CB8AC3E}">
        <p14:creationId xmlns:p14="http://schemas.microsoft.com/office/powerpoint/2010/main" val="95934355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2026-10-11T11:28:55.8890000Z</dcterms:created>
  <dcterms:modified xsi:type="dcterms:W3CDTF">2026-10-11T11:28:55.8890000Z</dcterms:modified>
</coreProperties>
</file>